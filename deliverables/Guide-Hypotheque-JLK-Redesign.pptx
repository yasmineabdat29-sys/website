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uilding.jpg"/>
          <p:cNvPicPr>
            <a:picLocks noChangeAspect="1"/>
          </p:cNvPicPr>
          <p:nvPr/>
        </p:nvPicPr>
        <p:blipFill>
          <a:blip r:embed="rId2"/>
          <a:srcRect t="7869" b="7869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8658" y="338658"/>
            <a:ext cx="11514378" cy="6180512"/>
          </a:xfrm>
          <a:prstGeom prst="rect">
            <a:avLst/>
          </a:prstGeom>
          <a:noFill/>
          <a:ln w="158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62620" y="2539936"/>
            <a:ext cx="8466455" cy="2201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9297" y="2844728"/>
            <a:ext cx="9313100" cy="6773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5600" b="0" i="0">
                <a:solidFill>
                  <a:srgbClr val="F4BC44"/>
                </a:solidFill>
                <a:latin typeface="Archivo Black"/>
              </a:rPr>
              <a:t>LE GUIDE INDISPENSABLE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2620" y="3555911"/>
            <a:ext cx="8466455" cy="507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700" b="0" i="1">
                <a:solidFill>
                  <a:srgbClr val="FFFFFF"/>
                </a:solidFill>
                <a:latin typeface="Lora"/>
              </a:rPr>
              <a:t>avant de signer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62620" y="3979233"/>
            <a:ext cx="8466455" cy="5926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200" b="0" i="0">
                <a:solidFill>
                  <a:srgbClr val="FFFFFF"/>
                </a:solidFill>
                <a:latin typeface="Archivo Black"/>
              </a:rPr>
              <a:t>UNE HYPOTHÈQUE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95208" y="4639617"/>
            <a:ext cx="2201278" cy="33865"/>
          </a:xfrm>
          <a:prstGeom prst="roundRect">
            <a:avLst>
              <a:gd name="adj" fmla="val 100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5303" y="1100639"/>
            <a:ext cx="1693291" cy="18626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0" b="1" i="0">
                <a:solidFill>
                  <a:srgbClr val="F4BC44">
                    <a:alpha val="45000"/>
                  </a:srgbClr>
                </a:solidFill>
                <a:latin typeface="Archivo Black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2620" y="2539936"/>
            <a:ext cx="8466455" cy="220127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Lora"/>
              </a:rPr>
              <a:t>Signer une hypothèque est probablement l’une des </a:t>
            </a:r>
            <a:r>
              <a:rPr sz="3800" b="1" i="0">
                <a:solidFill>
                  <a:srgbClr val="F4BC44"/>
                </a:solidFill>
                <a:latin typeface="Lora"/>
              </a:rPr>
              <a:t>décisions financières</a:t>
            </a:r>
            <a:r>
              <a:rPr sz="3800" b="1" i="0">
                <a:solidFill>
                  <a:srgbClr val="FFFFFF"/>
                </a:solidFill>
                <a:latin typeface="Lora"/>
              </a:rPr>
              <a:t> les plus importantes de votre vie.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1269968"/>
            <a:ext cx="7619809" cy="8466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F4BC44"/>
                </a:solidFill>
                <a:latin typeface="Archivo Black"/>
              </a:rPr>
              <a:t>Pourtant, la majorité des acheteurs...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2539936"/>
            <a:ext cx="186262" cy="3725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F4BC44"/>
                </a:solidFill>
                <a:latin typeface="Lora"/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639" y="2539936"/>
            <a:ext cx="6485304" cy="745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Lora"/>
              </a:rPr>
              <a:t>ne compare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779" y="3007284"/>
            <a:ext cx="186262" cy="3725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F4BC44"/>
                </a:solidFill>
                <a:latin typeface="Lora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639" y="3007284"/>
            <a:ext cx="6485304" cy="745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Lora"/>
              </a:rPr>
              <a:t>n’a pas de stratégie de taux ni de durée,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79" y="3474633"/>
            <a:ext cx="186262" cy="3725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F4BC44"/>
                </a:solidFill>
                <a:latin typeface="Lora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639" y="3474633"/>
            <a:ext cx="6485304" cy="745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Lora"/>
              </a:rPr>
              <a:t>ne prend pas en considération la prévoyance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9313100" y="2878594"/>
            <a:ext cx="1354632" cy="1354632"/>
          </a:xfrm>
          <a:prstGeom prst="triangle">
            <a:avLst/>
          </a:prstGeom>
          <a:noFill/>
          <a:ln w="38100">
            <a:solidFill>
              <a:srgbClr val="B6010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13100" y="3474633"/>
            <a:ext cx="1354632" cy="6773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5440" b="1" i="0">
                <a:solidFill>
                  <a:srgbClr val="B60103"/>
                </a:solidFill>
                <a:latin typeface="Archivo Black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gradFill rotWithShape="1">
            <a:gsLst>
              <a:gs pos="0">
                <a:srgbClr val="081528"/>
              </a:gs>
              <a:gs pos="100000">
                <a:srgbClr val="33060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1100639"/>
            <a:ext cx="10583068" cy="5926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FFFFFF"/>
                </a:solidFill>
                <a:latin typeface="Archivo Black"/>
              </a:rPr>
              <a:t>Une mauvaise décision hypothécaire peut impacter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2285942"/>
            <a:ext cx="10566135" cy="33865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sz="2700" b="0" i="0">
                <a:solidFill>
                  <a:srgbClr val="ECEEF2"/>
                </a:solidFill>
                <a:latin typeface="Lora"/>
              </a:rPr>
              <a:t>vos finances pendant des années,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sz="2700" b="0" i="0">
                <a:solidFill>
                  <a:srgbClr val="ECEEF2"/>
                </a:solidFill>
                <a:latin typeface="Lora"/>
              </a:rPr>
              <a:t>votre qualité de vie,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sz="2700" b="0" i="0">
                <a:solidFill>
                  <a:srgbClr val="ECEEF2"/>
                </a:solidFill>
                <a:latin typeface="Lora"/>
              </a:rPr>
              <a:t>votre capacité d’investissement,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sz="2700" b="0" i="0">
                <a:solidFill>
                  <a:srgbClr val="ECEEF2"/>
                </a:solidFill>
                <a:latin typeface="Lora"/>
              </a:rPr>
              <a:t>et même votre retraite.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031949"/>
            <a:ext cx="50798" cy="2539936"/>
          </a:xfrm>
          <a:prstGeom prst="rect">
            <a:avLst/>
          </a:prstGeom>
          <a:solidFill>
            <a:srgbClr val="B60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719648" y="5037540"/>
            <a:ext cx="761980" cy="761980"/>
          </a:xfrm>
          <a:prstGeom prst="triangle">
            <a:avLst/>
          </a:prstGeom>
          <a:noFill/>
          <a:ln w="38100">
            <a:solidFill>
              <a:srgbClr val="B6010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9648" y="5372812"/>
            <a:ext cx="761980" cy="3809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60" b="1" i="0">
                <a:solidFill>
                  <a:srgbClr val="B60103"/>
                </a:solidFill>
                <a:latin typeface="Archivo Black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127796" y="0"/>
            <a:ext cx="0" cy="6857828"/>
          </a:xfrm>
          <a:prstGeom prst="line">
            <a:avLst/>
          </a:prstGeom>
          <a:ln w="15875">
            <a:solidFill>
              <a:srgbClr val="F4BC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portrait_jl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458" y="1718944"/>
            <a:ext cx="3852237" cy="51388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2779" y="1777955"/>
            <a:ext cx="6942493" cy="38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0" i="1">
                <a:solidFill>
                  <a:srgbClr val="F4BC44"/>
                </a:solidFill>
                <a:latin typeface="Lora"/>
              </a:rPr>
              <a:t>Je suis Jean-Luc Kringel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779" y="2539936"/>
            <a:ext cx="6942493" cy="11853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Lora"/>
              </a:rPr>
              <a:t>Après 25 ans dans le financement et la prévoyance, j’ai accompagné des centaines de clients.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" y="3979233"/>
            <a:ext cx="6942493" cy="169329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600" b="1" i="0">
                <a:solidFill>
                  <a:srgbClr val="F4BC44"/>
                </a:solidFill>
                <a:latin typeface="Lora"/>
              </a:rPr>
              <a:t>Et j’ai remarqué une chose 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600" b="1" i="0">
                <a:solidFill>
                  <a:srgbClr val="F4BC44"/>
                </a:solidFill>
                <a:latin typeface="Lora"/>
              </a:rPr>
              <a:t>les mêmes erreurs reviennent constamment 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0639" y="4825879"/>
            <a:ext cx="2878594" cy="25399"/>
          </a:xfrm>
          <a:prstGeom prst="roundRect">
            <a:avLst>
              <a:gd name="adj" fmla="val 100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846645"/>
            <a:ext cx="9313100" cy="5926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0">
                <a:solidFill>
                  <a:srgbClr val="F4BC44"/>
                </a:solidFill>
                <a:latin typeface="Archivo Black"/>
              </a:rPr>
              <a:t>Ce que vous trouverez dans ce guide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779" y="1845687"/>
            <a:ext cx="9990416" cy="778913"/>
          </a:xfrm>
          <a:prstGeom prst="roundRect">
            <a:avLst>
              <a:gd name="adj" fmla="val 6000"/>
            </a:avLst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" y="1845687"/>
            <a:ext cx="42332" cy="778913"/>
          </a:xfrm>
          <a:prstGeom prst="rect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1437" y="2015016"/>
            <a:ext cx="440255" cy="440255"/>
          </a:xfrm>
          <a:prstGeom prst="ellipse">
            <a:avLst/>
          </a:prstGeom>
          <a:solidFill>
            <a:srgbClr val="F4BC44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1437" y="2015016"/>
            <a:ext cx="440255" cy="44025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81528"/>
                </a:solidFill>
                <a:latin typeface="Archivo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1821" y="1845687"/>
            <a:ext cx="8297125" cy="77891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Lora"/>
              </a:rPr>
              <a:t>Qu’est-ce qu’une hypothèque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95209" y="1845687"/>
            <a:ext cx="338658" cy="77891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F4BC44"/>
                </a:solidFill>
                <a:latin typeface="Archivo Black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" y="2760064"/>
            <a:ext cx="9990416" cy="778913"/>
          </a:xfrm>
          <a:prstGeom prst="roundRect">
            <a:avLst>
              <a:gd name="adj" fmla="val 6000"/>
            </a:avLst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2779" y="2760064"/>
            <a:ext cx="42332" cy="778913"/>
          </a:xfrm>
          <a:prstGeom prst="rect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1437" y="2929393"/>
            <a:ext cx="440255" cy="440255"/>
          </a:xfrm>
          <a:prstGeom prst="ellipse">
            <a:avLst/>
          </a:prstGeom>
          <a:solidFill>
            <a:srgbClr val="F4BC44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1437" y="2929393"/>
            <a:ext cx="440255" cy="44025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81528"/>
                </a:solidFill>
                <a:latin typeface="Archivo Blac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1821" y="2760064"/>
            <a:ext cx="8297125" cy="77891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Lora"/>
              </a:rPr>
              <a:t>Les 5 questions à se poser avant de rencontrer une banque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5209" y="2760064"/>
            <a:ext cx="338658" cy="77891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F4BC44"/>
                </a:solidFill>
                <a:latin typeface="Archivo Black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" y="3674441"/>
            <a:ext cx="9990416" cy="778913"/>
          </a:xfrm>
          <a:prstGeom prst="roundRect">
            <a:avLst>
              <a:gd name="adj" fmla="val 6000"/>
            </a:avLst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779" y="3674441"/>
            <a:ext cx="42332" cy="778913"/>
          </a:xfrm>
          <a:prstGeom prst="rect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1437" y="3843770"/>
            <a:ext cx="440255" cy="440255"/>
          </a:xfrm>
          <a:prstGeom prst="ellipse">
            <a:avLst/>
          </a:prstGeom>
          <a:solidFill>
            <a:srgbClr val="F4BC44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1437" y="3843770"/>
            <a:ext cx="440255" cy="44025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81528"/>
                </a:solidFill>
                <a:latin typeface="Archivo Black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1821" y="3674441"/>
            <a:ext cx="8297125" cy="77891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Lora"/>
              </a:rPr>
              <a:t>La chronologie de l’achat immobilier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95209" y="3674441"/>
            <a:ext cx="338658" cy="77891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F4BC44"/>
                </a:solidFill>
                <a:latin typeface="Archivo Black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779" y="4588818"/>
            <a:ext cx="9990416" cy="778913"/>
          </a:xfrm>
          <a:prstGeom prst="roundRect">
            <a:avLst>
              <a:gd name="adj" fmla="val 6000"/>
            </a:avLst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779" y="4588818"/>
            <a:ext cx="42332" cy="778913"/>
          </a:xfrm>
          <a:prstGeom prst="rect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1437" y="4758147"/>
            <a:ext cx="440255" cy="440255"/>
          </a:xfrm>
          <a:prstGeom prst="ellipse">
            <a:avLst/>
          </a:prstGeom>
          <a:solidFill>
            <a:srgbClr val="F4BC44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1437" y="4758147"/>
            <a:ext cx="440255" cy="44025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81528"/>
                </a:solidFill>
                <a:latin typeface="Archivo Black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11821" y="4588818"/>
            <a:ext cx="8297125" cy="77891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Lora"/>
              </a:rPr>
              <a:t>Les erreurs les plus coûteuses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95209" y="4588818"/>
            <a:ext cx="338658" cy="77891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F4BC44"/>
                </a:solidFill>
                <a:latin typeface="Archivo Black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779" y="5503195"/>
            <a:ext cx="9990416" cy="778913"/>
          </a:xfrm>
          <a:prstGeom prst="roundRect">
            <a:avLst>
              <a:gd name="adj" fmla="val 6000"/>
            </a:avLst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779" y="5503195"/>
            <a:ext cx="42332" cy="778913"/>
          </a:xfrm>
          <a:prstGeom prst="rect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51437" y="5672524"/>
            <a:ext cx="440255" cy="440255"/>
          </a:xfrm>
          <a:prstGeom prst="ellipse">
            <a:avLst/>
          </a:prstGeom>
          <a:solidFill>
            <a:srgbClr val="F4BC44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51437" y="5672524"/>
            <a:ext cx="440255" cy="44025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81528"/>
                </a:solidFill>
                <a:latin typeface="Archivo Black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11821" y="5503195"/>
            <a:ext cx="8297125" cy="77891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Lora"/>
              </a:rPr>
              <a:t>Une checklist complète avant de signer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95209" y="5503195"/>
            <a:ext cx="338658" cy="77891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F4BC44"/>
                </a:solidFill>
                <a:latin typeface="Archivo Black"/>
              </a:rPr>
              <a:t>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931310"/>
            <a:ext cx="6773164" cy="5926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0">
                <a:solidFill>
                  <a:srgbClr val="F4BC44"/>
                </a:solidFill>
                <a:latin typeface="Archivo Black"/>
              </a:rPr>
              <a:t>Qu’est-ce qu’une hypothèque 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1777955"/>
            <a:ext cx="6773164" cy="38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Lora"/>
              </a:rPr>
              <a:t>Une hypothèque = un engagement financier qui peut impacter 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2370607"/>
            <a:ext cx="186262" cy="304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4BC44"/>
                </a:solidFill>
                <a:latin typeface="Lora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639" y="2370607"/>
            <a:ext cx="5807988" cy="609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Lora"/>
              </a:rPr>
              <a:t>votre quotidien,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" y="2743978"/>
            <a:ext cx="186262" cy="304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4BC44"/>
                </a:solidFill>
                <a:latin typeface="Lora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639" y="2743978"/>
            <a:ext cx="5807988" cy="609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Lora"/>
              </a:rPr>
              <a:t>votre niveau de vie,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779" y="3117348"/>
            <a:ext cx="186262" cy="304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4BC44"/>
                </a:solidFill>
                <a:latin typeface="Lora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639" y="3117348"/>
            <a:ext cx="5807988" cy="609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Lora"/>
              </a:rPr>
              <a:t>votre capacité d’investissement,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779" y="3490719"/>
            <a:ext cx="186262" cy="304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4BC44"/>
                </a:solidFill>
                <a:latin typeface="Lora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639" y="3490719"/>
            <a:ext cx="5807988" cy="609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Lora"/>
              </a:rPr>
              <a:t>votre retraite,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779" y="3864090"/>
            <a:ext cx="186262" cy="304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4BC44"/>
                </a:solidFill>
                <a:latin typeface="Lora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639" y="3864090"/>
            <a:ext cx="5807988" cy="609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Lora"/>
              </a:rPr>
              <a:t>et votre liberté financière pendant plusieurs années.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89777" y="2793930"/>
            <a:ext cx="2116613" cy="2116613"/>
          </a:xfrm>
          <a:prstGeom prst="roundRect">
            <a:avLst>
              <a:gd name="adj" fmla="val 12000"/>
            </a:avLst>
          </a:prstGeom>
          <a:solidFill>
            <a:srgbClr val="142844"/>
          </a:solidFill>
          <a:ln w="158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9556934" y="3151214"/>
            <a:ext cx="782300" cy="372524"/>
          </a:xfrm>
          <a:prstGeom prst="triangle">
            <a:avLst/>
          </a:prstGeom>
          <a:noFill/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50065" y="3505112"/>
            <a:ext cx="596038" cy="391150"/>
          </a:xfrm>
          <a:prstGeom prst="rect">
            <a:avLst/>
          </a:prstGeom>
          <a:noFill/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73579" y="3654121"/>
            <a:ext cx="149009" cy="242140"/>
          </a:xfrm>
          <a:prstGeom prst="rect">
            <a:avLst/>
          </a:prstGeom>
          <a:noFill/>
          <a:ln w="22860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28052" y="4061358"/>
            <a:ext cx="259073" cy="259073"/>
          </a:xfrm>
          <a:prstGeom prst="ellipse">
            <a:avLst/>
          </a:prstGeom>
          <a:noFill/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887126" y="4190895"/>
            <a:ext cx="380990" cy="0"/>
          </a:xfrm>
          <a:prstGeom prst="line">
            <a:avLst/>
          </a:prstGeom>
          <a:ln w="28575">
            <a:solidFill>
              <a:srgbClr val="F4BC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161439" y="4190895"/>
            <a:ext cx="0" cy="137156"/>
          </a:xfrm>
          <a:prstGeom prst="line">
            <a:avLst/>
          </a:prstGeom>
          <a:ln w="28575">
            <a:solidFill>
              <a:srgbClr val="F4BC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252877" y="4190895"/>
            <a:ext cx="0" cy="106677"/>
          </a:xfrm>
          <a:prstGeom prst="line">
            <a:avLst/>
          </a:prstGeom>
          <a:ln w="28575">
            <a:solidFill>
              <a:srgbClr val="F4BC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12779" y="5503195"/>
            <a:ext cx="10566135" cy="8466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000" b="1" i="1">
                <a:solidFill>
                  <a:srgbClr val="F4BC44"/>
                </a:solidFill>
                <a:latin typeface="Lora"/>
              </a:rPr>
              <a:t>Et pourtant, énormément de personnes signent sans réellement comprendre comment tout cela fonctionne 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846645"/>
            <a:ext cx="8297125" cy="507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Archivo Black"/>
              </a:rPr>
              <a:t>QU’EST-CE QU’UNE HYPOTHÈQUE 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1481629"/>
            <a:ext cx="6942493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 i="0">
                <a:solidFill>
                  <a:srgbClr val="F4BC44"/>
                </a:solidFill>
                <a:latin typeface="Lora"/>
              </a:rPr>
              <a:t>Une hypothèque, c’est l’argent que la banque vous prête pour acheter un bien immobilier.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3555911"/>
            <a:ext cx="6942493" cy="220127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300" b="0" i="0">
                <a:solidFill>
                  <a:srgbClr val="FFFFFF"/>
                </a:solidFill>
                <a:latin typeface="Lora"/>
              </a:rPr>
              <a:t>En échange, le bien immobilier sert de </a:t>
            </a:r>
            <a:r>
              <a:rPr sz="2300" b="1" i="0">
                <a:solidFill>
                  <a:srgbClr val="F4BC44"/>
                </a:solidFill>
                <a:latin typeface="Lora"/>
              </a:rPr>
              <a:t>garantie</a:t>
            </a:r>
            <a:r>
              <a:rPr sz="2300" b="0" i="0">
                <a:solidFill>
                  <a:srgbClr val="FFFFFF"/>
                </a:solidFill>
                <a:latin typeface="Lora"/>
              </a:rPr>
              <a:t> à la banque.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300" b="0" i="0">
                <a:solidFill>
                  <a:srgbClr val="FFFFFF"/>
                </a:solidFill>
                <a:latin typeface="Lora"/>
              </a:rPr>
              <a:t>Autrement dit si l’emprunteur ne peut plus payer, la banque peut récupérer le bien pour se rembourser.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9567094" y="1100639"/>
            <a:ext cx="1015974" cy="1015974"/>
          </a:xfrm>
          <a:prstGeom prst="triangle">
            <a:avLst/>
          </a:prstGeom>
          <a:noFill/>
          <a:ln w="38100">
            <a:solidFill>
              <a:srgbClr val="B6010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67094" y="1547667"/>
            <a:ext cx="1015974" cy="507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80" b="1" i="0">
                <a:solidFill>
                  <a:srgbClr val="B60103"/>
                </a:solidFill>
                <a:latin typeface="Archivo Black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846645"/>
            <a:ext cx="5079873" cy="507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Archivo Black"/>
              </a:rPr>
              <a:t>EN SIMPLE...</a:t>
            </a:r>
          </a:p>
        </p:txBody>
      </p:sp>
      <p:sp>
        <p:nvSpPr>
          <p:cNvPr id="4" name="Oval 3"/>
          <p:cNvSpPr/>
          <p:nvPr/>
        </p:nvSpPr>
        <p:spPr>
          <a:xfrm>
            <a:off x="1396965" y="1989616"/>
            <a:ext cx="1777955" cy="1777955"/>
          </a:xfrm>
          <a:prstGeom prst="ellipse">
            <a:avLst/>
          </a:prstGeom>
          <a:solidFill>
            <a:srgbClr val="102038"/>
          </a:solidFill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85192" y="2370607"/>
            <a:ext cx="201501" cy="201501"/>
          </a:xfrm>
          <a:prstGeom prst="ellipse">
            <a:avLst/>
          </a:prstGeom>
          <a:noFill/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rapezoid 5"/>
          <p:cNvSpPr/>
          <p:nvPr/>
        </p:nvSpPr>
        <p:spPr>
          <a:xfrm rot="10800000">
            <a:off x="2108147" y="2619521"/>
            <a:ext cx="355591" cy="248913"/>
          </a:xfrm>
          <a:prstGeom prst="trapezoid">
            <a:avLst/>
          </a:prstGeom>
          <a:noFill/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6965" y="3174920"/>
            <a:ext cx="1777955" cy="2878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chivo Black"/>
              </a:rPr>
              <a:t>VOUS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5303" y="3987700"/>
            <a:ext cx="2201278" cy="507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ECEEF2"/>
                </a:solidFill>
                <a:latin typeface="Lora"/>
              </a:rPr>
              <a:t>Apportez une partie du prix</a:t>
            </a:r>
          </a:p>
        </p:txBody>
      </p:sp>
      <p:sp>
        <p:nvSpPr>
          <p:cNvPr id="9" name="Oval 8"/>
          <p:cNvSpPr/>
          <p:nvPr/>
        </p:nvSpPr>
        <p:spPr>
          <a:xfrm>
            <a:off x="5206869" y="1989616"/>
            <a:ext cx="1777955" cy="1777955"/>
          </a:xfrm>
          <a:prstGeom prst="ellipse">
            <a:avLst/>
          </a:prstGeom>
          <a:solidFill>
            <a:srgbClr val="102038"/>
          </a:solidFill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5846933" y="2394313"/>
            <a:ext cx="497827" cy="130383"/>
          </a:xfrm>
          <a:prstGeom prst="triangle">
            <a:avLst/>
          </a:prstGeom>
          <a:noFill/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46933" y="2797316"/>
            <a:ext cx="497827" cy="59265"/>
          </a:xfrm>
          <a:prstGeom prst="rect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85456" y="2548402"/>
            <a:ext cx="41485" cy="248913"/>
          </a:xfrm>
          <a:prstGeom prst="rect">
            <a:avLst/>
          </a:prstGeom>
          <a:noFill/>
          <a:ln w="24288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11888" y="2548402"/>
            <a:ext cx="41485" cy="248913"/>
          </a:xfrm>
          <a:prstGeom prst="rect">
            <a:avLst/>
          </a:prstGeom>
          <a:noFill/>
          <a:ln w="24288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38320" y="2548402"/>
            <a:ext cx="41485" cy="248913"/>
          </a:xfrm>
          <a:prstGeom prst="rect">
            <a:avLst/>
          </a:prstGeom>
          <a:noFill/>
          <a:ln w="24288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4753" y="2548402"/>
            <a:ext cx="41485" cy="248913"/>
          </a:xfrm>
          <a:prstGeom prst="rect">
            <a:avLst/>
          </a:prstGeom>
          <a:noFill/>
          <a:ln w="24288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6869" y="3174920"/>
            <a:ext cx="1777955" cy="2878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chivo Black"/>
              </a:rPr>
              <a:t>BANQUE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5208" y="3987700"/>
            <a:ext cx="2201278" cy="507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ECEEF2"/>
                </a:solidFill>
                <a:latin typeface="Lora"/>
              </a:rPr>
              <a:t>Prête le reste</a:t>
            </a:r>
          </a:p>
        </p:txBody>
      </p:sp>
      <p:sp>
        <p:nvSpPr>
          <p:cNvPr id="18" name="Oval 17"/>
          <p:cNvSpPr/>
          <p:nvPr/>
        </p:nvSpPr>
        <p:spPr>
          <a:xfrm>
            <a:off x="9016774" y="1989616"/>
            <a:ext cx="1777955" cy="1777955"/>
          </a:xfrm>
          <a:prstGeom prst="ellipse">
            <a:avLst/>
          </a:prstGeom>
          <a:solidFill>
            <a:srgbClr val="102038"/>
          </a:solidFill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9656838" y="2382460"/>
            <a:ext cx="497827" cy="237060"/>
          </a:xfrm>
          <a:prstGeom prst="triangle">
            <a:avLst/>
          </a:prstGeom>
          <a:noFill/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16103" y="2607668"/>
            <a:ext cx="379297" cy="248913"/>
          </a:xfrm>
          <a:prstGeom prst="rect">
            <a:avLst/>
          </a:prstGeom>
          <a:noFill/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58340" y="2702492"/>
            <a:ext cx="94824" cy="154089"/>
          </a:xfrm>
          <a:prstGeom prst="rect">
            <a:avLst/>
          </a:prstGeom>
          <a:noFill/>
          <a:ln w="22860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16774" y="3174920"/>
            <a:ext cx="1777955" cy="2878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chivo Black"/>
              </a:rPr>
              <a:t>BIEN IMMOBILIER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5113" y="3987700"/>
            <a:ext cx="2201278" cy="507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ECEEF2"/>
                </a:solidFill>
                <a:latin typeface="Lora"/>
              </a:rPr>
              <a:t>Sert de garantie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021566" y="2776997"/>
            <a:ext cx="338658" cy="20319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7831470" y="2776997"/>
            <a:ext cx="338658" cy="20319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931310"/>
            <a:ext cx="7619809" cy="507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F4BC44"/>
                </a:solidFill>
                <a:latin typeface="Archivo Black"/>
              </a:rPr>
              <a:t>Comment fonctionne le financement 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1693291"/>
            <a:ext cx="6773164" cy="507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Lora"/>
              </a:rPr>
              <a:t>Le financement immobilier repose généralement sur 3 éléments 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2539936"/>
            <a:ext cx="186262" cy="3386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F4BC44"/>
                </a:solidFill>
                <a:latin typeface="Lora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639" y="2539936"/>
            <a:ext cx="5638659" cy="6773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300" b="0" i="0">
                <a:solidFill>
                  <a:srgbClr val="FFFFFF"/>
                </a:solidFill>
                <a:latin typeface="Lora"/>
              </a:rPr>
              <a:t>Les fonds propres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" y="2960295"/>
            <a:ext cx="186262" cy="3386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F4BC44"/>
                </a:solidFill>
                <a:latin typeface="Lora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639" y="2960295"/>
            <a:ext cx="5638659" cy="6773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300" b="0" i="0">
                <a:solidFill>
                  <a:srgbClr val="FFFFFF"/>
                </a:solidFill>
                <a:latin typeface="Lora"/>
              </a:rPr>
              <a:t>L’hypothèque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779" y="3380655"/>
            <a:ext cx="186262" cy="3386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F4BC44"/>
                </a:solidFill>
                <a:latin typeface="Lora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639" y="3380655"/>
            <a:ext cx="5638659" cy="6773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300" b="0" i="0">
                <a:solidFill>
                  <a:srgbClr val="FFFFFF"/>
                </a:solidFill>
                <a:latin typeface="Lora"/>
              </a:rPr>
              <a:t>Votre capacité financière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458" y="2201278"/>
            <a:ext cx="3047923" cy="2455271"/>
          </a:xfrm>
          <a:prstGeom prst="roundRect">
            <a:avLst>
              <a:gd name="adj" fmla="val 10000"/>
            </a:avLst>
          </a:prstGeom>
          <a:solidFill>
            <a:srgbClr val="142844"/>
          </a:solidFill>
          <a:ln w="19050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8787" y="2201278"/>
            <a:ext cx="2709265" cy="245527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1400"/>
              </a:spcAft>
            </a:pPr>
            <a:r>
              <a:rPr sz="2100" b="1" i="0">
                <a:solidFill>
                  <a:srgbClr val="FFFFFF"/>
                </a:solidFill>
                <a:latin typeface="Archivo Black"/>
              </a:rPr>
              <a:t>PRIX DU BIEN</a:t>
            </a:r>
          </a:p>
          <a:p>
            <a:pPr algn="ctr">
              <a:lnSpc>
                <a:spcPct val="110000"/>
              </a:lnSpc>
              <a:spcAft>
                <a:spcPts val="1400"/>
              </a:spcAft>
            </a:pPr>
            <a:r>
              <a:rPr sz="3000" b="1" i="0">
                <a:solidFill>
                  <a:srgbClr val="F4BC44"/>
                </a:solidFill>
                <a:latin typeface="Archivo Black"/>
              </a:rPr>
              <a:t>=</a:t>
            </a:r>
          </a:p>
          <a:p>
            <a:pPr algn="ctr">
              <a:lnSpc>
                <a:spcPct val="110000"/>
              </a:lnSpc>
              <a:spcAft>
                <a:spcPts val="1400"/>
              </a:spcAft>
            </a:pPr>
            <a:r>
              <a:rPr sz="2100" b="1" i="0">
                <a:solidFill>
                  <a:srgbClr val="FFFFFF"/>
                </a:solidFill>
                <a:latin typeface="Archivo Black"/>
              </a:rPr>
              <a:t>FONDS PROPRES</a:t>
            </a:r>
          </a:p>
          <a:p>
            <a:pPr algn="ctr">
              <a:lnSpc>
                <a:spcPct val="110000"/>
              </a:lnSpc>
              <a:spcAft>
                <a:spcPts val="1400"/>
              </a:spcAft>
            </a:pPr>
            <a:r>
              <a:rPr sz="3000" b="1" i="0">
                <a:solidFill>
                  <a:srgbClr val="F4BC44"/>
                </a:solidFill>
                <a:latin typeface="Archivo Black"/>
              </a:rPr>
              <a:t>+</a:t>
            </a:r>
          </a:p>
          <a:p>
            <a:pPr algn="ctr">
              <a:lnSpc>
                <a:spcPct val="110000"/>
              </a:lnSpc>
              <a:spcAft>
                <a:spcPts val="1400"/>
              </a:spcAft>
            </a:pPr>
            <a:r>
              <a:rPr sz="2100" b="1" i="0">
                <a:solidFill>
                  <a:srgbClr val="FFFFFF"/>
                </a:solidFill>
                <a:latin typeface="Archivo Black"/>
              </a:rPr>
              <a:t>HYPOTHÈQUE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761980"/>
            <a:ext cx="9313100" cy="507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F4BC44"/>
                </a:solidFill>
                <a:latin typeface="Archivo Black"/>
              </a:rPr>
              <a:t>Quels critères analyse la banque 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779" y="1507028"/>
            <a:ext cx="10566135" cy="778913"/>
          </a:xfrm>
          <a:prstGeom prst="roundRect">
            <a:avLst>
              <a:gd name="adj" fmla="val 5000"/>
            </a:avLst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041" y="1828754"/>
            <a:ext cx="135463" cy="135463"/>
          </a:xfrm>
          <a:prstGeom prst="ellipse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6901" y="1507028"/>
            <a:ext cx="9736423" cy="77891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50" b="1" i="0">
                <a:solidFill>
                  <a:srgbClr val="F4BC44"/>
                </a:solidFill>
                <a:latin typeface="Lora"/>
              </a:rPr>
              <a:t>Revenus : </a:t>
            </a:r>
            <a:r>
              <a:rPr sz="1850" b="0" i="0">
                <a:solidFill>
                  <a:srgbClr val="FFFFFF"/>
                </a:solidFill>
                <a:latin typeface="Lora"/>
              </a:rPr>
              <a:t>salaire, bonus, revenus indépendants, revenus locatifs éventuels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779" y="2387540"/>
            <a:ext cx="10566135" cy="778913"/>
          </a:xfrm>
          <a:prstGeom prst="roundRect">
            <a:avLst>
              <a:gd name="adj" fmla="val 5000"/>
            </a:avLst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9041" y="2709265"/>
            <a:ext cx="135463" cy="135463"/>
          </a:xfrm>
          <a:prstGeom prst="ellipse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6901" y="2387540"/>
            <a:ext cx="9736423" cy="77891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50" b="1" i="0">
                <a:solidFill>
                  <a:srgbClr val="F4BC44"/>
                </a:solidFill>
                <a:latin typeface="Lora"/>
              </a:rPr>
              <a:t>Situation professionnelle : </a:t>
            </a:r>
            <a:r>
              <a:rPr sz="1850" b="0" i="0">
                <a:solidFill>
                  <a:srgbClr val="FFFFFF"/>
                </a:solidFill>
                <a:latin typeface="Lora"/>
              </a:rPr>
              <a:t>CDI, ancienneté, stabilité du secteur, activité indépendante ou salariée.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" y="3268051"/>
            <a:ext cx="10566135" cy="778913"/>
          </a:xfrm>
          <a:prstGeom prst="roundRect">
            <a:avLst>
              <a:gd name="adj" fmla="val 5000"/>
            </a:avLst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9041" y="3589776"/>
            <a:ext cx="135463" cy="135463"/>
          </a:xfrm>
          <a:prstGeom prst="ellipse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6901" y="3268051"/>
            <a:ext cx="9736423" cy="77891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50" b="1" i="0">
                <a:solidFill>
                  <a:srgbClr val="F4BC44"/>
                </a:solidFill>
                <a:latin typeface="Lora"/>
              </a:rPr>
              <a:t>Charges existantes : </a:t>
            </a:r>
            <a:r>
              <a:rPr sz="1850" b="0" i="0">
                <a:solidFill>
                  <a:srgbClr val="FFFFFF"/>
                </a:solidFill>
                <a:latin typeface="Lora"/>
              </a:rPr>
              <a:t>crédits, leasing, pensions, cartes de crédit, autres dettes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" y="4148562"/>
            <a:ext cx="10566135" cy="778913"/>
          </a:xfrm>
          <a:prstGeom prst="roundRect">
            <a:avLst>
              <a:gd name="adj" fmla="val 5000"/>
            </a:avLst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9041" y="4470288"/>
            <a:ext cx="135463" cy="135463"/>
          </a:xfrm>
          <a:prstGeom prst="ellipse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6901" y="4148562"/>
            <a:ext cx="9736423" cy="77891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50" b="1" i="0">
                <a:solidFill>
                  <a:srgbClr val="F4BC44"/>
                </a:solidFill>
                <a:latin typeface="Lora"/>
              </a:rPr>
              <a:t>Fonds propres : </a:t>
            </a:r>
            <a:r>
              <a:rPr sz="1850" b="0" i="0">
                <a:solidFill>
                  <a:srgbClr val="FFFFFF"/>
                </a:solidFill>
                <a:latin typeface="Lora"/>
              </a:rPr>
              <a:t>la provenance de votre apport → épargne, 2e pilier, 3e pilier, donation, héritage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" y="5029074"/>
            <a:ext cx="10566135" cy="778913"/>
          </a:xfrm>
          <a:prstGeom prst="roundRect">
            <a:avLst>
              <a:gd name="adj" fmla="val 5000"/>
            </a:avLst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9041" y="5350799"/>
            <a:ext cx="135463" cy="135463"/>
          </a:xfrm>
          <a:prstGeom prst="ellipse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6901" y="5029074"/>
            <a:ext cx="9736423" cy="77891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50" b="1" i="0">
                <a:solidFill>
                  <a:srgbClr val="F4BC44"/>
                </a:solidFill>
                <a:latin typeface="Lora"/>
              </a:rPr>
              <a:t>Votre profil global : </a:t>
            </a:r>
            <a:r>
              <a:rPr sz="1850" b="0" i="0">
                <a:solidFill>
                  <a:srgbClr val="FFFFFF"/>
                </a:solidFill>
                <a:latin typeface="Lora"/>
              </a:rPr>
              <a:t>la banque évalue aussi → votre gestion financière, votre comportement bancaire, votre stabilité de vie.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677316"/>
            <a:ext cx="9313100" cy="507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F4BC44"/>
                </a:solidFill>
                <a:latin typeface="Archivo Black"/>
              </a:rPr>
              <a:t>Les différents types d’hypothèques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779" y="1608626"/>
            <a:ext cx="3217252" cy="2116613"/>
          </a:xfrm>
          <a:prstGeom prst="roundRect">
            <a:avLst>
              <a:gd name="adj" fmla="val 7000"/>
            </a:avLst>
          </a:prstGeom>
          <a:solidFill>
            <a:srgbClr val="102038"/>
          </a:solidFill>
          <a:ln w="158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032907" y="1955751"/>
            <a:ext cx="1100639" cy="0"/>
          </a:xfrm>
          <a:custGeom>
            <a:avLst/>
            <a:gdLst/>
            <a:ahLst/>
            <a:cxnLst/>
            <a:rect l="l" t="t" r="r" b="b"/>
            <a:pathLst>
              <a:path w="1100639" h="0">
                <a:moveTo>
                  <a:pt x="0" y="0"/>
                </a:moveTo>
                <a:lnTo>
                  <a:pt x="1100639" y="0"/>
                </a:lnTo>
              </a:path>
            </a:pathLst>
          </a:custGeom>
          <a:noFill/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5974" y="2269009"/>
            <a:ext cx="2810863" cy="5926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50" b="1" i="0">
                <a:solidFill>
                  <a:srgbClr val="F4BC44"/>
                </a:solidFill>
                <a:latin typeface="Archivo Black"/>
              </a:rPr>
              <a:t>HYPOTHÈQUE À TAUX FIXE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974" y="2878594"/>
            <a:ext cx="2810863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Lora"/>
              </a:rPr>
              <a:t>Le taux reste identique pendant toute la durée du contrat.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3227" y="1608626"/>
            <a:ext cx="3217252" cy="2116613"/>
          </a:xfrm>
          <a:prstGeom prst="roundRect">
            <a:avLst>
              <a:gd name="adj" fmla="val 7000"/>
            </a:avLst>
          </a:prstGeom>
          <a:solidFill>
            <a:srgbClr val="102038"/>
          </a:solidFill>
          <a:ln w="158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4453355" y="1819441"/>
            <a:ext cx="1100639" cy="245358"/>
          </a:xfrm>
          <a:custGeom>
            <a:avLst/>
            <a:gdLst/>
            <a:ahLst/>
            <a:cxnLst/>
            <a:rect l="l" t="t" r="r" b="b"/>
            <a:pathLst>
              <a:path w="1100639" h="245358">
                <a:moveTo>
                  <a:pt x="0" y="245358"/>
                </a:moveTo>
                <a:lnTo>
                  <a:pt x="363211" y="245358"/>
                </a:lnTo>
                <a:lnTo>
                  <a:pt x="363211" y="105153"/>
                </a:lnTo>
                <a:lnTo>
                  <a:pt x="726422" y="105153"/>
                </a:lnTo>
                <a:lnTo>
                  <a:pt x="726422" y="0"/>
                </a:lnTo>
                <a:lnTo>
                  <a:pt x="1100639" y="0"/>
                </a:lnTo>
              </a:path>
            </a:pathLst>
          </a:custGeom>
          <a:noFill/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6422" y="2269009"/>
            <a:ext cx="2810863" cy="5926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50" b="1" i="0">
                <a:solidFill>
                  <a:srgbClr val="F4BC44"/>
                </a:solidFill>
                <a:latin typeface="Archivo Black"/>
              </a:rPr>
              <a:t>HYPOTHÈQUE SARON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6422" y="2878594"/>
            <a:ext cx="2810863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Lora"/>
              </a:rPr>
              <a:t>Le taux varie selon le marché suisse.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53675" y="1608626"/>
            <a:ext cx="3217252" cy="2116613"/>
          </a:xfrm>
          <a:prstGeom prst="roundRect">
            <a:avLst>
              <a:gd name="adj" fmla="val 7000"/>
            </a:avLst>
          </a:prstGeom>
          <a:solidFill>
            <a:srgbClr val="102038"/>
          </a:solidFill>
          <a:ln w="158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7873803" y="1819441"/>
            <a:ext cx="1100639" cy="233674"/>
          </a:xfrm>
          <a:custGeom>
            <a:avLst/>
            <a:gdLst/>
            <a:ahLst/>
            <a:cxnLst/>
            <a:rect l="l" t="t" r="r" b="b"/>
            <a:pathLst>
              <a:path w="1100639" h="233674">
                <a:moveTo>
                  <a:pt x="0" y="136310"/>
                </a:moveTo>
                <a:lnTo>
                  <a:pt x="220127" y="0"/>
                </a:lnTo>
                <a:lnTo>
                  <a:pt x="440255" y="233674"/>
                </a:lnTo>
                <a:lnTo>
                  <a:pt x="660383" y="19473"/>
                </a:lnTo>
                <a:lnTo>
                  <a:pt x="880511" y="206412"/>
                </a:lnTo>
                <a:lnTo>
                  <a:pt x="1100639" y="58418"/>
                </a:lnTo>
              </a:path>
            </a:pathLst>
          </a:custGeom>
          <a:noFill/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6870" y="2269009"/>
            <a:ext cx="2810863" cy="5926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50" b="1" i="0">
                <a:solidFill>
                  <a:srgbClr val="F4BC44"/>
                </a:solidFill>
                <a:latin typeface="Archivo Black"/>
              </a:rPr>
              <a:t>HYPOTHÈQUE VARIABLE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6870" y="2878594"/>
            <a:ext cx="2810863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Lora"/>
              </a:rPr>
              <a:t>Le taux peut changer librement selon la banque.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" y="4063898"/>
            <a:ext cx="10566135" cy="2116613"/>
          </a:xfrm>
          <a:prstGeom prst="roundRect">
            <a:avLst>
              <a:gd name="adj" fmla="val 7000"/>
            </a:avLst>
          </a:prstGeom>
          <a:solidFill>
            <a:srgbClr val="F4BC44">
              <a:alpha val="20000"/>
            </a:srgbClr>
          </a:solidFill>
          <a:ln w="158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0639" y="4334824"/>
            <a:ext cx="4233227" cy="3386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4BC44"/>
                </a:solidFill>
                <a:latin typeface="Archivo Black"/>
              </a:rPr>
              <a:t>DURÉE DE L’HYPOTHÈQUE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639" y="4825879"/>
            <a:ext cx="3386582" cy="2878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Lora"/>
              </a:rPr>
              <a:t>La durée influence 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639" y="5232269"/>
            <a:ext cx="186262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4BC44"/>
                </a:solidFill>
                <a:latin typeface="Lora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8498" y="5232269"/>
            <a:ext cx="7331950" cy="507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Lora"/>
              </a:rPr>
              <a:t>votre sécurité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639" y="5519282"/>
            <a:ext cx="186262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4BC44"/>
                </a:solidFill>
                <a:latin typeface="Lora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8498" y="5519282"/>
            <a:ext cx="7331950" cy="507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Lora"/>
              </a:rPr>
              <a:t>votre flexibilité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639" y="5806294"/>
            <a:ext cx="186262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4BC44"/>
                </a:solidFill>
                <a:latin typeface="Lora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8498" y="5806294"/>
            <a:ext cx="7331950" cy="507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Lora"/>
              </a:rPr>
              <a:t>votre stratégie financière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gradFill rotWithShape="1">
            <a:gsLst>
              <a:gs pos="0">
                <a:srgbClr val="081528"/>
              </a:gs>
              <a:gs pos="100000">
                <a:srgbClr val="241B0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26518" y="1015974"/>
            <a:ext cx="5926518" cy="507987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43000" b="1" i="0">
                <a:solidFill>
                  <a:srgbClr val="F4BC44">
                    <a:alpha val="8000"/>
                  </a:srgbClr>
                </a:solidFill>
                <a:latin typeface="Archivo Black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9297" y="2878594"/>
            <a:ext cx="9313100" cy="135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ora"/>
              </a:rPr>
              <a:t>Les 5 questions à se poser avant de rencontrer une banque...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779" y="2412939"/>
            <a:ext cx="931310" cy="93131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779" y="2412939"/>
            <a:ext cx="931310" cy="9313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600" b="1" i="0">
                <a:solidFill>
                  <a:srgbClr val="081528"/>
                </a:solidFill>
                <a:latin typeface="Archivo Black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779" y="3640575"/>
            <a:ext cx="592651" cy="33865"/>
          </a:xfrm>
          <a:prstGeom prst="rect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779" y="3894569"/>
            <a:ext cx="10159746" cy="18626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ora"/>
              </a:rPr>
              <a:t>Quel budget puis-je réellement assumer sur le long terme 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779" y="2412939"/>
            <a:ext cx="931310" cy="93131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779" y="2412939"/>
            <a:ext cx="931310" cy="9313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600" b="1" i="0">
                <a:solidFill>
                  <a:srgbClr val="081528"/>
                </a:solidFill>
                <a:latin typeface="Archivo Black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779" y="3640575"/>
            <a:ext cx="592651" cy="33865"/>
          </a:xfrm>
          <a:prstGeom prst="rect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779" y="3894569"/>
            <a:ext cx="10159746" cy="18626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ora"/>
              </a:rPr>
              <a:t>Ma situation risque-t-elle d’évoluer dans les prochaines années 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779" y="2412939"/>
            <a:ext cx="931310" cy="93131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779" y="2412939"/>
            <a:ext cx="931310" cy="9313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600" b="1" i="0">
                <a:solidFill>
                  <a:srgbClr val="081528"/>
                </a:solidFill>
                <a:latin typeface="Archivo Black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779" y="3640575"/>
            <a:ext cx="592651" cy="33865"/>
          </a:xfrm>
          <a:prstGeom prst="rect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779" y="3894569"/>
            <a:ext cx="10159746" cy="18626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ora"/>
              </a:rPr>
              <a:t>Ai-je une vision claire de ma retraite et de ma prévoyance 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779" y="2412939"/>
            <a:ext cx="931310" cy="93131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779" y="2412939"/>
            <a:ext cx="931310" cy="9313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600" b="1" i="0">
                <a:solidFill>
                  <a:srgbClr val="081528"/>
                </a:solidFill>
                <a:latin typeface="Archivo Black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779" y="3640575"/>
            <a:ext cx="592651" cy="33865"/>
          </a:xfrm>
          <a:prstGeom prst="rect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779" y="3894569"/>
            <a:ext cx="10159746" cy="18626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ora"/>
              </a:rPr>
              <a:t>Suis-je prêt à immobiliser autant de liquidités 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779" y="2412939"/>
            <a:ext cx="931310" cy="93131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779" y="2412939"/>
            <a:ext cx="931310" cy="9313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600" b="1" i="0">
                <a:solidFill>
                  <a:srgbClr val="081528"/>
                </a:solidFill>
                <a:latin typeface="Archivo Black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779" y="3640575"/>
            <a:ext cx="592651" cy="33865"/>
          </a:xfrm>
          <a:prstGeom prst="rect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779" y="3894569"/>
            <a:ext cx="10159746" cy="18626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ora"/>
              </a:rPr>
              <a:t>Est-ce que je comprends vraiment les implications de mon financement 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389456"/>
            <a:ext cx="9313100" cy="4571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F4BC44"/>
                </a:solidFill>
                <a:latin typeface="Archivo Black"/>
              </a:rPr>
              <a:t>La chronologie de l’achat immobilier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914377"/>
            <a:ext cx="7619809" cy="2709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chivo Black"/>
              </a:rPr>
              <a:t>L’ACHAT IMMOBILIER EN 13 ÉTAPES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3450" y="1320766"/>
            <a:ext cx="10904794" cy="1507028"/>
          </a:xfrm>
          <a:prstGeom prst="roundRect">
            <a:avLst>
              <a:gd name="adj" fmla="val 10000"/>
            </a:avLst>
          </a:prstGeom>
          <a:solidFill>
            <a:srgbClr val="F4BC44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828754" y="1777955"/>
            <a:ext cx="8534186" cy="0"/>
          </a:xfrm>
          <a:prstGeom prst="line">
            <a:avLst/>
          </a:prstGeom>
          <a:ln w="28575">
            <a:solidFill>
              <a:srgbClr val="F4BC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ight Arrow 6"/>
          <p:cNvSpPr/>
          <p:nvPr/>
        </p:nvSpPr>
        <p:spPr>
          <a:xfrm>
            <a:off x="2785463" y="1711917"/>
            <a:ext cx="220127" cy="13207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4919010" y="1711917"/>
            <a:ext cx="220127" cy="13207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052557" y="1711917"/>
            <a:ext cx="220127" cy="13207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9186103" y="1711917"/>
            <a:ext cx="220127" cy="13207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83227" y="1532428"/>
            <a:ext cx="491054" cy="491054"/>
          </a:xfrm>
          <a:prstGeom prst="ellipse">
            <a:avLst/>
          </a:prstGeom>
          <a:solidFill>
            <a:srgbClr val="F4BC44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3227" y="1532428"/>
            <a:ext cx="491054" cy="49105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81528"/>
                </a:solidFill>
                <a:latin typeface="Archivo Black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108" y="2167412"/>
            <a:ext cx="1693291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Capacité d'achat &amp; dossier financement</a:t>
            </a:r>
          </a:p>
        </p:txBody>
      </p:sp>
      <p:sp>
        <p:nvSpPr>
          <p:cNvPr id="14" name="Oval 13"/>
          <p:cNvSpPr/>
          <p:nvPr/>
        </p:nvSpPr>
        <p:spPr>
          <a:xfrm>
            <a:off x="3716773" y="1532428"/>
            <a:ext cx="491054" cy="491054"/>
          </a:xfrm>
          <a:prstGeom prst="ellipse">
            <a:avLst/>
          </a:prstGeom>
          <a:solidFill>
            <a:srgbClr val="F4BC44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6773" y="1532428"/>
            <a:ext cx="491054" cy="49105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81528"/>
                </a:solidFill>
                <a:latin typeface="Archivo Blac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5655" y="2167412"/>
            <a:ext cx="1693291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Impact fiscal et couvertures de risques</a:t>
            </a:r>
          </a:p>
        </p:txBody>
      </p:sp>
      <p:sp>
        <p:nvSpPr>
          <p:cNvPr id="17" name="Oval 16"/>
          <p:cNvSpPr/>
          <p:nvPr/>
        </p:nvSpPr>
        <p:spPr>
          <a:xfrm>
            <a:off x="5850320" y="1532428"/>
            <a:ext cx="491054" cy="491054"/>
          </a:xfrm>
          <a:prstGeom prst="ellipse">
            <a:avLst/>
          </a:prstGeom>
          <a:solidFill>
            <a:srgbClr val="F4BC44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0320" y="1532428"/>
            <a:ext cx="491054" cy="49105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81528"/>
                </a:solidFill>
                <a:latin typeface="Archivo Black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9202" y="2167412"/>
            <a:ext cx="1693291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Recherches &amp; visites de biens</a:t>
            </a:r>
          </a:p>
        </p:txBody>
      </p:sp>
      <p:sp>
        <p:nvSpPr>
          <p:cNvPr id="20" name="Oval 19"/>
          <p:cNvSpPr/>
          <p:nvPr/>
        </p:nvSpPr>
        <p:spPr>
          <a:xfrm>
            <a:off x="7983867" y="1532428"/>
            <a:ext cx="491054" cy="491054"/>
          </a:xfrm>
          <a:prstGeom prst="ellipse">
            <a:avLst/>
          </a:prstGeom>
          <a:solidFill>
            <a:srgbClr val="F4BC44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83867" y="1532428"/>
            <a:ext cx="491054" cy="49105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81528"/>
                </a:solidFill>
                <a:latin typeface="Archivo Black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2748" y="2167412"/>
            <a:ext cx="1693291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Négociations &amp; offres d'achat</a:t>
            </a:r>
          </a:p>
        </p:txBody>
      </p:sp>
      <p:sp>
        <p:nvSpPr>
          <p:cNvPr id="23" name="Oval 22"/>
          <p:cNvSpPr/>
          <p:nvPr/>
        </p:nvSpPr>
        <p:spPr>
          <a:xfrm>
            <a:off x="10117413" y="1532428"/>
            <a:ext cx="491054" cy="491054"/>
          </a:xfrm>
          <a:prstGeom prst="ellipse">
            <a:avLst/>
          </a:prstGeom>
          <a:solidFill>
            <a:srgbClr val="F4BC44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17413" y="1532428"/>
            <a:ext cx="491054" cy="49105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81528"/>
                </a:solidFill>
                <a:latin typeface="Archivo Black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6295" y="2167412"/>
            <a:ext cx="1693291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Accord &amp; acompte Notaire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3450" y="2963259"/>
            <a:ext cx="10904794" cy="1507028"/>
          </a:xfrm>
          <a:prstGeom prst="roundRect">
            <a:avLst>
              <a:gd name="adj" fmla="val 10000"/>
            </a:avLst>
          </a:prstGeom>
          <a:solidFill>
            <a:srgbClr val="F4BC44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828754" y="3420447"/>
            <a:ext cx="8534186" cy="0"/>
          </a:xfrm>
          <a:prstGeom prst="line">
            <a:avLst/>
          </a:prstGeom>
          <a:ln w="28575">
            <a:solidFill>
              <a:srgbClr val="F4BC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ight Arrow 27"/>
          <p:cNvSpPr/>
          <p:nvPr/>
        </p:nvSpPr>
        <p:spPr>
          <a:xfrm>
            <a:off x="2785463" y="3354409"/>
            <a:ext cx="220127" cy="13207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4919010" y="3354409"/>
            <a:ext cx="220127" cy="13207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7052557" y="3354409"/>
            <a:ext cx="220127" cy="13207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9186103" y="3354409"/>
            <a:ext cx="220127" cy="13207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583227" y="3174920"/>
            <a:ext cx="491054" cy="491054"/>
          </a:xfrm>
          <a:prstGeom prst="ellipse">
            <a:avLst/>
          </a:prstGeom>
          <a:solidFill>
            <a:srgbClr val="F4BC44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83227" y="3174920"/>
            <a:ext cx="491054" cy="49105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81528"/>
                </a:solidFill>
                <a:latin typeface="Archivo Black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108" y="3809904"/>
            <a:ext cx="1693291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Offres de financement</a:t>
            </a:r>
          </a:p>
        </p:txBody>
      </p:sp>
      <p:sp>
        <p:nvSpPr>
          <p:cNvPr id="35" name="Oval 34"/>
          <p:cNvSpPr/>
          <p:nvPr/>
        </p:nvSpPr>
        <p:spPr>
          <a:xfrm>
            <a:off x="3716773" y="3174920"/>
            <a:ext cx="491054" cy="491054"/>
          </a:xfrm>
          <a:prstGeom prst="ellipse">
            <a:avLst/>
          </a:prstGeom>
          <a:solidFill>
            <a:srgbClr val="F4BC44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16773" y="3174920"/>
            <a:ext cx="491054" cy="49105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81528"/>
                </a:solidFill>
                <a:latin typeface="Archivo Black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5655" y="3809904"/>
            <a:ext cx="1693291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Préparation projet d'acte</a:t>
            </a:r>
          </a:p>
        </p:txBody>
      </p:sp>
      <p:sp>
        <p:nvSpPr>
          <p:cNvPr id="38" name="Oval 37"/>
          <p:cNvSpPr/>
          <p:nvPr/>
        </p:nvSpPr>
        <p:spPr>
          <a:xfrm>
            <a:off x="5850320" y="3174920"/>
            <a:ext cx="491054" cy="491054"/>
          </a:xfrm>
          <a:prstGeom prst="ellipse">
            <a:avLst/>
          </a:prstGeom>
          <a:solidFill>
            <a:srgbClr val="F4BC44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0320" y="3174920"/>
            <a:ext cx="491054" cy="49105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81528"/>
                </a:solidFill>
                <a:latin typeface="Archivo Black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49202" y="3809904"/>
            <a:ext cx="1693291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Signature prêt hypothécaire</a:t>
            </a:r>
          </a:p>
        </p:txBody>
      </p:sp>
      <p:sp>
        <p:nvSpPr>
          <p:cNvPr id="41" name="Oval 40"/>
          <p:cNvSpPr/>
          <p:nvPr/>
        </p:nvSpPr>
        <p:spPr>
          <a:xfrm>
            <a:off x="7983867" y="3174920"/>
            <a:ext cx="491054" cy="491054"/>
          </a:xfrm>
          <a:prstGeom prst="ellipse">
            <a:avLst/>
          </a:prstGeom>
          <a:solidFill>
            <a:srgbClr val="F4BC44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83867" y="3174920"/>
            <a:ext cx="491054" cy="49105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81528"/>
                </a:solidFill>
                <a:latin typeface="Archivo Black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2748" y="3809904"/>
            <a:ext cx="1693291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Virement des fonds</a:t>
            </a:r>
          </a:p>
        </p:txBody>
      </p:sp>
      <p:sp>
        <p:nvSpPr>
          <p:cNvPr id="44" name="Oval 43"/>
          <p:cNvSpPr/>
          <p:nvPr/>
        </p:nvSpPr>
        <p:spPr>
          <a:xfrm>
            <a:off x="10117413" y="3174920"/>
            <a:ext cx="491054" cy="491054"/>
          </a:xfrm>
          <a:prstGeom prst="ellipse">
            <a:avLst/>
          </a:prstGeom>
          <a:solidFill>
            <a:srgbClr val="F4BC44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17413" y="3174920"/>
            <a:ext cx="491054" cy="49105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81528"/>
                </a:solidFill>
                <a:latin typeface="Archivo Black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16295" y="3809904"/>
            <a:ext cx="1693291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Signature vente chez le notaire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3450" y="4605751"/>
            <a:ext cx="10904794" cy="1507028"/>
          </a:xfrm>
          <a:prstGeom prst="roundRect">
            <a:avLst>
              <a:gd name="adj" fmla="val 10000"/>
            </a:avLst>
          </a:prstGeom>
          <a:solidFill>
            <a:srgbClr val="F4BC44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1828754" y="5062940"/>
            <a:ext cx="8534186" cy="0"/>
          </a:xfrm>
          <a:prstGeom prst="line">
            <a:avLst/>
          </a:prstGeom>
          <a:ln w="28575">
            <a:solidFill>
              <a:srgbClr val="F4BC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ight Arrow 48"/>
          <p:cNvSpPr/>
          <p:nvPr/>
        </p:nvSpPr>
        <p:spPr>
          <a:xfrm>
            <a:off x="3852237" y="4996901"/>
            <a:ext cx="220127" cy="13207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ight Arrow 49"/>
          <p:cNvSpPr/>
          <p:nvPr/>
        </p:nvSpPr>
        <p:spPr>
          <a:xfrm>
            <a:off x="8119330" y="4996901"/>
            <a:ext cx="220127" cy="13207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583227" y="4817412"/>
            <a:ext cx="491054" cy="491054"/>
          </a:xfrm>
          <a:prstGeom prst="ellipse">
            <a:avLst/>
          </a:prstGeom>
          <a:solidFill>
            <a:srgbClr val="F4BC44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3227" y="4817412"/>
            <a:ext cx="491054" cy="49105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81528"/>
                </a:solidFill>
                <a:latin typeface="Archivo Black"/>
              </a:rP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108" y="5452397"/>
            <a:ext cx="1693291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Blocage des taux hypothécaires</a:t>
            </a:r>
          </a:p>
        </p:txBody>
      </p:sp>
      <p:sp>
        <p:nvSpPr>
          <p:cNvPr id="54" name="Oval 53"/>
          <p:cNvSpPr/>
          <p:nvPr/>
        </p:nvSpPr>
        <p:spPr>
          <a:xfrm>
            <a:off x="5850320" y="4817412"/>
            <a:ext cx="491054" cy="491054"/>
          </a:xfrm>
          <a:prstGeom prst="ellipse">
            <a:avLst/>
          </a:prstGeom>
          <a:solidFill>
            <a:srgbClr val="F4BC44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50320" y="4817412"/>
            <a:ext cx="491054" cy="49105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81528"/>
                </a:solidFill>
                <a:latin typeface="Archivo Black"/>
              </a:rPr>
              <a:t>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49202" y="5452397"/>
            <a:ext cx="1693291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Remise des clés</a:t>
            </a:r>
          </a:p>
        </p:txBody>
      </p:sp>
      <p:sp>
        <p:nvSpPr>
          <p:cNvPr id="57" name="Oval 56"/>
          <p:cNvSpPr/>
          <p:nvPr/>
        </p:nvSpPr>
        <p:spPr>
          <a:xfrm>
            <a:off x="10117413" y="4817412"/>
            <a:ext cx="491054" cy="491054"/>
          </a:xfrm>
          <a:prstGeom prst="ellipse">
            <a:avLst/>
          </a:prstGeom>
          <a:solidFill>
            <a:srgbClr val="F4BC44"/>
          </a:solidFill>
          <a:ln>
            <a:noFill/>
          </a:ln>
          <a:effectLst>
            <a:outerShdw blurRad="30000" dist="14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17413" y="4817412"/>
            <a:ext cx="491054" cy="49105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81528"/>
                </a:solidFill>
                <a:latin typeface="Archivo Black"/>
              </a:rPr>
              <a:t>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16295" y="5452397"/>
            <a:ext cx="1693291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Déménagement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9" y="338658"/>
            <a:ext cx="4233227" cy="592651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43000" b="1" i="0">
                <a:solidFill>
                  <a:srgbClr val="F4BC44">
                    <a:alpha val="6000"/>
                  </a:srgbClr>
                </a:solidFill>
                <a:latin typeface="Archivo Black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660383"/>
            <a:ext cx="6773164" cy="2201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BC44"/>
                </a:solidFill>
                <a:latin typeface="Lora"/>
              </a:rPr>
              <a:t>LES ERREURS LES PLUS COÛTEUSES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999041"/>
            <a:ext cx="8466455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chivo Black"/>
              </a:rPr>
              <a:t>ERREUR </a:t>
            </a:r>
            <a:r>
              <a:rPr sz="2800" b="1" i="0">
                <a:solidFill>
                  <a:srgbClr val="F4BC44"/>
                </a:solidFill>
                <a:latin typeface="Archivo Black"/>
              </a:rPr>
              <a:t>#1</a:t>
            </a:r>
            <a:r>
              <a:rPr sz="2800" b="1" i="0">
                <a:solidFill>
                  <a:srgbClr val="FFFFFF"/>
                </a:solidFill>
                <a:latin typeface="Archivo Black"/>
              </a:rPr>
              <a:t> — SE FOCALISER UNIQUEMENT SUR LE TAUX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779" y="3555911"/>
            <a:ext cx="8805113" cy="2031949"/>
          </a:xfrm>
          <a:prstGeom prst="roundRect">
            <a:avLst>
              <a:gd name="adj" fmla="val 6000"/>
            </a:avLst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" y="3555911"/>
            <a:ext cx="42332" cy="2031949"/>
          </a:xfrm>
          <a:prstGeom prst="rect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40819" y="3742173"/>
            <a:ext cx="138172" cy="138172"/>
          </a:xfrm>
          <a:prstGeom prst="ellipse">
            <a:avLst/>
          </a:prstGeom>
          <a:noFill/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pezoid 8"/>
          <p:cNvSpPr/>
          <p:nvPr/>
        </p:nvSpPr>
        <p:spPr>
          <a:xfrm rot="10800000">
            <a:off x="8987988" y="3912856"/>
            <a:ext cx="243833" cy="170683"/>
          </a:xfrm>
          <a:prstGeom prst="trapezoid">
            <a:avLst/>
          </a:prstGeom>
          <a:noFill/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1437" y="3708307"/>
            <a:ext cx="7619809" cy="3386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ora"/>
              </a:rPr>
              <a:t>Situation concrète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1437" y="4114697"/>
            <a:ext cx="7958467" cy="507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Lora"/>
              </a:rPr>
              <a:t>Marc compare deux banques. Il choisit immédiatement 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1437" y="4554952"/>
            <a:ext cx="42332" cy="338658"/>
          </a:xfrm>
          <a:prstGeom prst="rect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0766" y="4554952"/>
            <a:ext cx="7619809" cy="3725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1">
                <a:solidFill>
                  <a:srgbClr val="F4BC44"/>
                </a:solidFill>
                <a:latin typeface="Lora"/>
              </a:rPr>
              <a:t>celle avec le taux le plus bas.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1437" y="5012141"/>
            <a:ext cx="7958467" cy="47412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ECEEF2"/>
                </a:solidFill>
                <a:latin typeface="Lora"/>
              </a:rPr>
              <a:t>Sans avoir analysé les conditions, la flexibilité, les pénalités, ni la stratégie globale.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507987"/>
            <a:ext cx="10159746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Lora"/>
              </a:rPr>
              <a:t>Quelques années plus tard...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Lora"/>
              </a:rPr>
              <a:t>Marc souhaite vendre son bien plus tôt que prévu 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1269968"/>
            <a:ext cx="10566135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4BC44"/>
                </a:solidFill>
                <a:latin typeface="Lora"/>
              </a:rPr>
              <a:t>Problème 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1540894"/>
            <a:ext cx="10566135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4BC44"/>
                </a:solidFill>
                <a:latin typeface="Lora"/>
              </a:rPr>
              <a:t>les pénalités de sortie sont énormes.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779" y="3386582"/>
            <a:ext cx="4741214" cy="2116613"/>
          </a:xfrm>
          <a:prstGeom prst="roundRect">
            <a:avLst>
              <a:gd name="adj" fmla="val 9000"/>
            </a:avLst>
          </a:prstGeom>
          <a:solidFill>
            <a:srgbClr val="F4BC44"/>
          </a:solidFill>
          <a:ln>
            <a:noFill/>
          </a:ln>
          <a:effectLst>
            <a:outerShdw blurRad="45000" dist="22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1134504" y="3589776"/>
            <a:ext cx="372524" cy="372524"/>
          </a:xfrm>
          <a:prstGeom prst="triangle">
            <a:avLst/>
          </a:prstGeom>
          <a:noFill/>
          <a:ln w="38100">
            <a:solidFill>
              <a:srgbClr val="081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4504" y="3753687"/>
            <a:ext cx="372524" cy="1862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96" b="1" i="0">
                <a:solidFill>
                  <a:srgbClr val="081528"/>
                </a:solidFill>
                <a:latin typeface="Archivo Black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1437" y="4097764"/>
            <a:ext cx="4063898" cy="304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81528"/>
                </a:solidFill>
                <a:latin typeface="Archivo Black"/>
              </a:rPr>
              <a:t>Conséquence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1437" y="4487221"/>
            <a:ext cx="4063898" cy="8466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700" b="1" i="0">
                <a:solidFill>
                  <a:srgbClr val="081528"/>
                </a:solidFill>
                <a:latin typeface="Lora"/>
              </a:rPr>
              <a:t>L’économie réalisée sur le taux est finalement perdue ailleurs.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26518" y="2963259"/>
            <a:ext cx="5486262" cy="2878594"/>
          </a:xfrm>
          <a:prstGeom prst="roundRect">
            <a:avLst>
              <a:gd name="adj" fmla="val 6000"/>
            </a:avLst>
          </a:prstGeom>
          <a:solidFill>
            <a:srgbClr val="142844"/>
          </a:solidFill>
          <a:ln w="19050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63579" y="3030990"/>
            <a:ext cx="507987" cy="507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 i="0">
                <a:solidFill>
                  <a:srgbClr val="F4BC44"/>
                </a:solidFill>
                <a:latin typeface="Archivo Black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0512" y="3471246"/>
            <a:ext cx="4978275" cy="3386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Lora"/>
              </a:rPr>
              <a:t>Ce qu’il aurait fallu faire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0512" y="3894569"/>
            <a:ext cx="4978275" cy="169329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ECEEF2"/>
                </a:solidFill>
                <a:latin typeface="Lora"/>
              </a:rPr>
              <a:t>Analyser le projet de vie, les possibilités futures et la flexibilité du contrat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0512" y="5604793"/>
            <a:ext cx="4978275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F4BC44"/>
                </a:solidFill>
                <a:latin typeface="Archivo Black"/>
              </a:rPr>
              <a:t>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163579"/>
            <a:ext cx="12191695" cy="524920"/>
          </a:xfrm>
          <a:prstGeom prst="rect">
            <a:avLst/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779" y="6163579"/>
            <a:ext cx="10566135" cy="524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F4BC44"/>
                </a:solidFill>
                <a:latin typeface="Lora"/>
              </a:rPr>
              <a:t>À RETENIR : </a:t>
            </a:r>
            <a:r>
              <a:rPr sz="1750" b="0" i="0">
                <a:solidFill>
                  <a:srgbClr val="FFFFFF"/>
                </a:solidFill>
                <a:latin typeface="Lora"/>
              </a:rPr>
              <a:t>une bonne hypothèque ne se résume jamais à un simple pourcentage.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9" y="338658"/>
            <a:ext cx="4233227" cy="592651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43000" b="1" i="0">
                <a:solidFill>
                  <a:srgbClr val="F4BC44">
                    <a:alpha val="6000"/>
                  </a:srgbClr>
                </a:solidFill>
                <a:latin typeface="Archivo Black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660383"/>
            <a:ext cx="6773164" cy="2201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BC44"/>
                </a:solidFill>
                <a:latin typeface="Lora"/>
              </a:rPr>
              <a:t>LES ERREURS LES PLUS COÛTEUSES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999041"/>
            <a:ext cx="8466455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chivo Black"/>
              </a:rPr>
              <a:t>ERREUR </a:t>
            </a:r>
            <a:r>
              <a:rPr sz="2800" b="1" i="0">
                <a:solidFill>
                  <a:srgbClr val="F4BC44"/>
                </a:solidFill>
                <a:latin typeface="Archivo Black"/>
              </a:rPr>
              <a:t>#2</a:t>
            </a:r>
            <a:r>
              <a:rPr sz="2800" b="1" i="0">
                <a:solidFill>
                  <a:srgbClr val="FFFFFF"/>
                </a:solidFill>
                <a:latin typeface="Archivo Black"/>
              </a:rPr>
              <a:t> — UTILISER TOUTE SON ÉPARGNE POUR ACHETER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779" y="3555911"/>
            <a:ext cx="8805113" cy="2031949"/>
          </a:xfrm>
          <a:prstGeom prst="roundRect">
            <a:avLst>
              <a:gd name="adj" fmla="val 6000"/>
            </a:avLst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" y="3555911"/>
            <a:ext cx="42332" cy="2031949"/>
          </a:xfrm>
          <a:prstGeom prst="rect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40819" y="3742173"/>
            <a:ext cx="138172" cy="138172"/>
          </a:xfrm>
          <a:prstGeom prst="ellipse">
            <a:avLst/>
          </a:prstGeom>
          <a:noFill/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pezoid 8"/>
          <p:cNvSpPr/>
          <p:nvPr/>
        </p:nvSpPr>
        <p:spPr>
          <a:xfrm rot="10800000">
            <a:off x="8987988" y="3912856"/>
            <a:ext cx="243833" cy="170683"/>
          </a:xfrm>
          <a:prstGeom prst="trapezoid">
            <a:avLst/>
          </a:prstGeom>
          <a:noFill/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1437" y="3708307"/>
            <a:ext cx="7619809" cy="3386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ora"/>
              </a:rPr>
              <a:t>Situation concrète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1437" y="4114697"/>
            <a:ext cx="7958467" cy="507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Lora"/>
              </a:rPr>
              <a:t>Sophie apporte presque toutes ses économies pour devenir propriétaire.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1437" y="4554952"/>
            <a:ext cx="42332" cy="338658"/>
          </a:xfrm>
          <a:prstGeom prst="rect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0766" y="4554952"/>
            <a:ext cx="7619809" cy="3725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1">
                <a:solidFill>
                  <a:srgbClr val="F4BC44"/>
                </a:solidFill>
                <a:latin typeface="Lora"/>
              </a:rPr>
              <a:t>Sur le papier, son dossier passe.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507987"/>
            <a:ext cx="10159746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Lora"/>
              </a:rPr>
              <a:t>Quelques mois plus tard...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Lora"/>
              </a:rPr>
              <a:t>Sophie découvre des travaux imprévus, une augmentation des charges, des dépenses personnelles...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1269968"/>
            <a:ext cx="10566135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4BC44"/>
                </a:solidFill>
                <a:latin typeface="Lora"/>
              </a:rPr>
              <a:t>Problème 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1540894"/>
            <a:ext cx="10566135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F4BC44"/>
                </a:solidFill>
                <a:latin typeface="Lora"/>
              </a:rPr>
              <a:t>elle n’a plus de réserve financière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779" y="3386582"/>
            <a:ext cx="4741214" cy="2116613"/>
          </a:xfrm>
          <a:prstGeom prst="roundRect">
            <a:avLst>
              <a:gd name="adj" fmla="val 9000"/>
            </a:avLst>
          </a:prstGeom>
          <a:solidFill>
            <a:srgbClr val="F4BC44"/>
          </a:solidFill>
          <a:ln>
            <a:noFill/>
          </a:ln>
          <a:effectLst>
            <a:outerShdw blurRad="45000" dist="22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1134504" y="3589776"/>
            <a:ext cx="372524" cy="372524"/>
          </a:xfrm>
          <a:prstGeom prst="triangle">
            <a:avLst/>
          </a:prstGeom>
          <a:noFill/>
          <a:ln w="38100">
            <a:solidFill>
              <a:srgbClr val="081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4504" y="3753687"/>
            <a:ext cx="372524" cy="1862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96" b="1" i="0">
                <a:solidFill>
                  <a:srgbClr val="081528"/>
                </a:solidFill>
                <a:latin typeface="Archivo Black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1437" y="4097764"/>
            <a:ext cx="4063898" cy="304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81528"/>
                </a:solidFill>
                <a:latin typeface="Archivo Black"/>
              </a:rPr>
              <a:t>Conséquence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1437" y="4487221"/>
            <a:ext cx="4063898" cy="8466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700" b="1" i="0">
                <a:solidFill>
                  <a:srgbClr val="081528"/>
                </a:solidFill>
                <a:latin typeface="Lora"/>
              </a:rPr>
              <a:t>Difficulté à absorber les imprévus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700" b="1" i="0">
                <a:solidFill>
                  <a:srgbClr val="081528"/>
                </a:solidFill>
                <a:latin typeface="Lora"/>
              </a:rPr>
              <a:t>Fragilité financière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26518" y="2963259"/>
            <a:ext cx="5486262" cy="2878594"/>
          </a:xfrm>
          <a:prstGeom prst="roundRect">
            <a:avLst>
              <a:gd name="adj" fmla="val 6000"/>
            </a:avLst>
          </a:prstGeom>
          <a:solidFill>
            <a:srgbClr val="142844"/>
          </a:solidFill>
          <a:ln w="19050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63579" y="3030990"/>
            <a:ext cx="507987" cy="507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 i="0">
                <a:solidFill>
                  <a:srgbClr val="F4BC44"/>
                </a:solidFill>
                <a:latin typeface="Archivo Black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0512" y="3471246"/>
            <a:ext cx="4978275" cy="3386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Lora"/>
              </a:rPr>
              <a:t>Ce qu’il aurait fallu faire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0512" y="3894569"/>
            <a:ext cx="4978275" cy="169329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ECEEF2"/>
                </a:solidFill>
                <a:latin typeface="Lora"/>
              </a:rPr>
              <a:t>prévoir une réserve de sécurité,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ECEEF2"/>
                </a:solidFill>
                <a:latin typeface="Lora"/>
              </a:rPr>
              <a:t>avoir une stratégie de liquidités,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ECEEF2"/>
                </a:solidFill>
                <a:latin typeface="Lora"/>
              </a:rPr>
              <a:t>trouver un équilibre entre achat et stabilité financière.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0512" y="5604793"/>
            <a:ext cx="4978275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F4BC44"/>
                </a:solidFill>
                <a:latin typeface="Archivo Black"/>
              </a:rPr>
              <a:t>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163579"/>
            <a:ext cx="12191695" cy="524920"/>
          </a:xfrm>
          <a:prstGeom prst="rect">
            <a:avLst/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779" y="6163579"/>
            <a:ext cx="10566135" cy="524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F4BC44"/>
                </a:solidFill>
                <a:latin typeface="Lora"/>
              </a:rPr>
              <a:t>À RETENIR : </a:t>
            </a:r>
            <a:r>
              <a:rPr sz="1750" b="0" i="0">
                <a:solidFill>
                  <a:srgbClr val="FFFFFF"/>
                </a:solidFill>
                <a:latin typeface="Lora"/>
              </a:rPr>
              <a:t>devenir propriétaire ne doit jamais vous mettre financièrement sous pression.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9" y="338658"/>
            <a:ext cx="4233227" cy="592651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43000" b="1" i="0">
                <a:solidFill>
                  <a:srgbClr val="F4BC44">
                    <a:alpha val="6000"/>
                  </a:srgbClr>
                </a:solidFill>
                <a:latin typeface="Archivo Black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779" y="660383"/>
            <a:ext cx="6773164" cy="2201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F4BC44"/>
                </a:solidFill>
                <a:latin typeface="Lora"/>
              </a:rPr>
              <a:t>LES ERREURS LES PLUS COÛTEUSES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779" y="999041"/>
            <a:ext cx="8466455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chivo Black"/>
              </a:rPr>
              <a:t>ERREUR </a:t>
            </a:r>
            <a:r>
              <a:rPr sz="2800" b="1" i="0">
                <a:solidFill>
                  <a:srgbClr val="F4BC44"/>
                </a:solidFill>
                <a:latin typeface="Archivo Black"/>
              </a:rPr>
              <a:t>#3</a:t>
            </a:r>
            <a:r>
              <a:rPr sz="2800" b="1" i="0">
                <a:solidFill>
                  <a:srgbClr val="FFFFFF"/>
                </a:solidFill>
                <a:latin typeface="Archivo Black"/>
              </a:rPr>
              <a:t> — SIGNER SANS COMPRENDRE LES CLAUSES IMPORTANTES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779" y="3555911"/>
            <a:ext cx="8805113" cy="2031949"/>
          </a:xfrm>
          <a:prstGeom prst="roundRect">
            <a:avLst>
              <a:gd name="adj" fmla="val 6000"/>
            </a:avLst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779" y="3555911"/>
            <a:ext cx="42332" cy="2031949"/>
          </a:xfrm>
          <a:prstGeom prst="rect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40819" y="3742173"/>
            <a:ext cx="138172" cy="138172"/>
          </a:xfrm>
          <a:prstGeom prst="ellipse">
            <a:avLst/>
          </a:prstGeom>
          <a:noFill/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pezoid 8"/>
          <p:cNvSpPr/>
          <p:nvPr/>
        </p:nvSpPr>
        <p:spPr>
          <a:xfrm rot="10800000">
            <a:off x="8987988" y="3912856"/>
            <a:ext cx="243833" cy="170683"/>
          </a:xfrm>
          <a:prstGeom prst="trapezoid">
            <a:avLst/>
          </a:prstGeom>
          <a:noFill/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1437" y="3708307"/>
            <a:ext cx="7619809" cy="3386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ora"/>
              </a:rPr>
              <a:t>Situation concrète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1437" y="4114697"/>
            <a:ext cx="7958467" cy="507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Lora"/>
              </a:rPr>
              <a:t>Thomas fait confiance à sa banque et signe rapidement.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1437" y="4554952"/>
            <a:ext cx="42332" cy="338658"/>
          </a:xfrm>
          <a:prstGeom prst="rect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0766" y="4554952"/>
            <a:ext cx="7619809" cy="3725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1">
                <a:solidFill>
                  <a:srgbClr val="F4BC44"/>
                </a:solidFill>
                <a:latin typeface="Lora"/>
              </a:rPr>
              <a:t>Il pense que tout est standard.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507987"/>
            <a:ext cx="10159746" cy="761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Lora"/>
              </a:rPr>
              <a:t>Ce qu’il découvre ensuite...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Lora"/>
              </a:rPr>
              <a:t>Certaines clauses limitent fortement sa flexibilité, ses possibilités de refinancement et ses options futures.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779" y="3386582"/>
            <a:ext cx="4741214" cy="2116613"/>
          </a:xfrm>
          <a:prstGeom prst="roundRect">
            <a:avLst>
              <a:gd name="adj" fmla="val 9000"/>
            </a:avLst>
          </a:prstGeom>
          <a:solidFill>
            <a:srgbClr val="F4BC44"/>
          </a:solidFill>
          <a:ln>
            <a:noFill/>
          </a:ln>
          <a:effectLst>
            <a:outerShdw blurRad="45000" dist="22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1134504" y="3589776"/>
            <a:ext cx="372524" cy="372524"/>
          </a:xfrm>
          <a:prstGeom prst="triangle">
            <a:avLst/>
          </a:prstGeom>
          <a:noFill/>
          <a:ln w="38100">
            <a:solidFill>
              <a:srgbClr val="081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4504" y="3753687"/>
            <a:ext cx="372524" cy="1862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96" b="1" i="0">
                <a:solidFill>
                  <a:srgbClr val="081528"/>
                </a:solidFill>
                <a:latin typeface="Archivo Black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1437" y="4097764"/>
            <a:ext cx="4063898" cy="304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81528"/>
                </a:solidFill>
                <a:latin typeface="Archivo Black"/>
              </a:rPr>
              <a:t>Conséquence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1437" y="4487221"/>
            <a:ext cx="4063898" cy="8466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700" b="1" i="0">
                <a:solidFill>
                  <a:srgbClr val="081528"/>
                </a:solidFill>
                <a:latin typeface="Lora"/>
              </a:rPr>
              <a:t>Il se retrouve bloqué dans une stratégie peu adaptée à son évolution de vie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6518" y="2963259"/>
            <a:ext cx="5486262" cy="2878594"/>
          </a:xfrm>
          <a:prstGeom prst="roundRect">
            <a:avLst>
              <a:gd name="adj" fmla="val 6000"/>
            </a:avLst>
          </a:prstGeom>
          <a:solidFill>
            <a:srgbClr val="142844"/>
          </a:solidFill>
          <a:ln w="19050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63579" y="3030990"/>
            <a:ext cx="507987" cy="5079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 i="0">
                <a:solidFill>
                  <a:srgbClr val="F4BC44"/>
                </a:solidFill>
                <a:latin typeface="Archivo Black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0512" y="3471246"/>
            <a:ext cx="4978275" cy="3386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Lora"/>
              </a:rPr>
              <a:t>Ce qu’il aurait fallu faire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0512" y="3894569"/>
            <a:ext cx="4978275" cy="169329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Lora"/>
              </a:rPr>
              <a:t>Comprendre :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ECEEF2"/>
                </a:solidFill>
                <a:latin typeface="Lora"/>
              </a:rPr>
              <a:t>— les conditions de sortie,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ECEEF2"/>
                </a:solidFill>
                <a:latin typeface="Lora"/>
              </a:rPr>
              <a:t>— les possibilités de modification,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ECEEF2"/>
                </a:solidFill>
                <a:latin typeface="Lora"/>
              </a:rPr>
              <a:t>— les pénalités,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ECEEF2"/>
                </a:solidFill>
                <a:latin typeface="Lora"/>
              </a:rPr>
              <a:t>— et les implications long terme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0512" y="5604793"/>
            <a:ext cx="4978275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F4BC44"/>
                </a:solidFill>
                <a:latin typeface="Archivo Black"/>
              </a:rPr>
              <a:t>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163579"/>
            <a:ext cx="12191695" cy="524920"/>
          </a:xfrm>
          <a:prstGeom prst="rect">
            <a:avLst/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779" y="6163579"/>
            <a:ext cx="10566135" cy="524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F4BC44"/>
                </a:solidFill>
                <a:latin typeface="Lora"/>
              </a:rPr>
              <a:t>À RETENIR : </a:t>
            </a:r>
            <a:r>
              <a:rPr sz="1750" b="0" i="0">
                <a:solidFill>
                  <a:srgbClr val="FFFFFF"/>
                </a:solidFill>
                <a:latin typeface="Lora"/>
              </a:rPr>
              <a:t>un contrat hypothécaire doit être compris. Pas simplement signé.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507987"/>
            <a:ext cx="10566135" cy="54185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800" b="0" i="0">
                <a:solidFill>
                  <a:srgbClr val="FFFFFF"/>
                </a:solidFill>
                <a:latin typeface="Archivo Black"/>
              </a:rPr>
              <a:t>La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49202" y="1100639"/>
            <a:ext cx="1693291" cy="25399"/>
          </a:xfrm>
          <a:prstGeom prst="roundRect">
            <a:avLst>
              <a:gd name="adj" fmla="val 100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2779" y="1608626"/>
            <a:ext cx="4910543" cy="812779"/>
          </a:xfrm>
          <a:prstGeom prst="roundRect">
            <a:avLst>
              <a:gd name="adj" fmla="val 10000"/>
            </a:avLst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9041" y="1913418"/>
            <a:ext cx="203194" cy="203194"/>
          </a:xfrm>
          <a:prstGeom prst="roundRect">
            <a:avLst>
              <a:gd name="adj" fmla="val 22000"/>
            </a:avLst>
          </a:prstGeom>
          <a:noFill/>
          <a:ln w="2222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7699" y="1608626"/>
            <a:ext cx="4199361" cy="81277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 i="0">
                <a:solidFill>
                  <a:srgbClr val="FFFFFF"/>
                </a:solidFill>
                <a:latin typeface="Lora"/>
              </a:rPr>
              <a:t>Ai-je compris chaque clause importante 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79" y="2539936"/>
            <a:ext cx="4910543" cy="812779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9041" y="2844728"/>
            <a:ext cx="203194" cy="203194"/>
          </a:xfrm>
          <a:prstGeom prst="roundRect">
            <a:avLst>
              <a:gd name="adj" fmla="val 22000"/>
            </a:avLst>
          </a:prstGeom>
          <a:noFill/>
          <a:ln w="2222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7699" y="2539936"/>
            <a:ext cx="4199361" cy="81277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 i="0">
                <a:solidFill>
                  <a:srgbClr val="FFFFFF"/>
                </a:solidFill>
                <a:latin typeface="Lora"/>
              </a:rPr>
              <a:t>Est-ce que je connais les pénalités éventuelles 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" y="3471246"/>
            <a:ext cx="4910543" cy="812779"/>
          </a:xfrm>
          <a:prstGeom prst="roundRect">
            <a:avLst>
              <a:gd name="adj" fmla="val 10000"/>
            </a:avLst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9041" y="3776038"/>
            <a:ext cx="203194" cy="203194"/>
          </a:xfrm>
          <a:prstGeom prst="roundRect">
            <a:avLst>
              <a:gd name="adj" fmla="val 22000"/>
            </a:avLst>
          </a:prstGeom>
          <a:noFill/>
          <a:ln w="2222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7699" y="3471246"/>
            <a:ext cx="4199361" cy="81277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 i="0">
                <a:solidFill>
                  <a:srgbClr val="FFFFFF"/>
                </a:solidFill>
                <a:latin typeface="Lora"/>
              </a:rPr>
              <a:t>Est-ce que je comprends les conditions de sortie 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" y="4402556"/>
            <a:ext cx="4910543" cy="812779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9041" y="4707348"/>
            <a:ext cx="203194" cy="203194"/>
          </a:xfrm>
          <a:prstGeom prst="roundRect">
            <a:avLst>
              <a:gd name="adj" fmla="val 22000"/>
            </a:avLst>
          </a:prstGeom>
          <a:noFill/>
          <a:ln w="2222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37699" y="4402556"/>
            <a:ext cx="4199361" cy="81277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 i="0">
                <a:solidFill>
                  <a:srgbClr val="FFFFFF"/>
                </a:solidFill>
                <a:latin typeface="Lora"/>
              </a:rPr>
              <a:t>Est-ce que je comprends réellement le type d’hypothèque choisi 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79" y="5333866"/>
            <a:ext cx="4910543" cy="812779"/>
          </a:xfrm>
          <a:prstGeom prst="roundRect">
            <a:avLst>
              <a:gd name="adj" fmla="val 10000"/>
            </a:avLst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99041" y="5638659"/>
            <a:ext cx="203194" cy="203194"/>
          </a:xfrm>
          <a:prstGeom prst="roundRect">
            <a:avLst>
              <a:gd name="adj" fmla="val 22000"/>
            </a:avLst>
          </a:prstGeom>
          <a:noFill/>
          <a:ln w="2222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7699" y="5333866"/>
            <a:ext cx="4199361" cy="81277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 i="0">
                <a:solidFill>
                  <a:srgbClr val="FFFFFF"/>
                </a:solidFill>
                <a:latin typeface="Lora"/>
              </a:rPr>
              <a:t>Cette hypothèque est-elle adaptée à ma situation de vie 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94250" y="1608626"/>
            <a:ext cx="4910543" cy="812779"/>
          </a:xfrm>
          <a:prstGeom prst="roundRect">
            <a:avLst>
              <a:gd name="adj" fmla="val 10000"/>
            </a:avLst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80512" y="1913418"/>
            <a:ext cx="203194" cy="203194"/>
          </a:xfrm>
          <a:prstGeom prst="roundRect">
            <a:avLst>
              <a:gd name="adj" fmla="val 22000"/>
            </a:avLst>
          </a:prstGeom>
          <a:noFill/>
          <a:ln w="2222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170" y="1608626"/>
            <a:ext cx="4199361" cy="81277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 i="0">
                <a:solidFill>
                  <a:srgbClr val="FFFFFF"/>
                </a:solidFill>
                <a:latin typeface="Lora"/>
              </a:rPr>
              <a:t>Est-ce que mon budget restera confortable même en cas d’imprévu 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94250" y="2539936"/>
            <a:ext cx="4910543" cy="812779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80512" y="2844728"/>
            <a:ext cx="203194" cy="203194"/>
          </a:xfrm>
          <a:prstGeom prst="roundRect">
            <a:avLst>
              <a:gd name="adj" fmla="val 22000"/>
            </a:avLst>
          </a:prstGeom>
          <a:noFill/>
          <a:ln w="2222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170" y="2539936"/>
            <a:ext cx="4199361" cy="81277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 i="0">
                <a:solidFill>
                  <a:srgbClr val="FFFFFF"/>
                </a:solidFill>
                <a:latin typeface="Lora"/>
              </a:rPr>
              <a:t>Ai-je conservé une réserve financière suffisante 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94250" y="3471246"/>
            <a:ext cx="4910543" cy="812779"/>
          </a:xfrm>
          <a:prstGeom prst="roundRect">
            <a:avLst>
              <a:gd name="adj" fmla="val 10000"/>
            </a:avLst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80512" y="3776038"/>
            <a:ext cx="203194" cy="203194"/>
          </a:xfrm>
          <a:prstGeom prst="roundRect">
            <a:avLst>
              <a:gd name="adj" fmla="val 22000"/>
            </a:avLst>
          </a:prstGeom>
          <a:noFill/>
          <a:ln w="2222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170" y="3471246"/>
            <a:ext cx="4199361" cy="81277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 i="0">
                <a:solidFill>
                  <a:srgbClr val="FFFFFF"/>
                </a:solidFill>
                <a:latin typeface="Lora"/>
              </a:rPr>
              <a:t>Ai-je pensé à l’impact sur ma retraite 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94250" y="4402556"/>
            <a:ext cx="4910543" cy="812779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80512" y="4707348"/>
            <a:ext cx="203194" cy="203194"/>
          </a:xfrm>
          <a:prstGeom prst="roundRect">
            <a:avLst>
              <a:gd name="adj" fmla="val 22000"/>
            </a:avLst>
          </a:prstGeom>
          <a:noFill/>
          <a:ln w="2222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170" y="4402556"/>
            <a:ext cx="4199361" cy="81277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 i="0">
                <a:solidFill>
                  <a:srgbClr val="FFFFFF"/>
                </a:solidFill>
                <a:latin typeface="Lora"/>
              </a:rPr>
              <a:t>Ai-je comparé plusieurs établissements 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94250" y="5333866"/>
            <a:ext cx="4910543" cy="812779"/>
          </a:xfrm>
          <a:prstGeom prst="roundRect">
            <a:avLst>
              <a:gd name="adj" fmla="val 10000"/>
            </a:avLst>
          </a:prstGeom>
          <a:solidFill>
            <a:srgbClr val="10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80512" y="5638659"/>
            <a:ext cx="203194" cy="203194"/>
          </a:xfrm>
          <a:prstGeom prst="roundRect">
            <a:avLst>
              <a:gd name="adj" fmla="val 22000"/>
            </a:avLst>
          </a:prstGeom>
          <a:noFill/>
          <a:ln w="2222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9170" y="5333866"/>
            <a:ext cx="4199361" cy="81277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 i="0">
                <a:solidFill>
                  <a:srgbClr val="FFFFFF"/>
                </a:solidFill>
                <a:latin typeface="Lora"/>
              </a:rPr>
              <a:t>Est-ce que le timing est bon 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345049" y="6441278"/>
            <a:ext cx="372524" cy="22351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8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ta_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467" y="1294791"/>
            <a:ext cx="4233227" cy="55630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2779" y="1015974"/>
            <a:ext cx="6434505" cy="54185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0">
                <a:solidFill>
                  <a:srgbClr val="F4BC44"/>
                </a:solidFill>
                <a:latin typeface="Archivo Black"/>
              </a:rPr>
              <a:t>Besoin d’aller plus loin 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74760" y="1608626"/>
            <a:ext cx="2201278" cy="25399"/>
          </a:xfrm>
          <a:prstGeom prst="roundRect">
            <a:avLst>
              <a:gd name="adj" fmla="val 100000"/>
            </a:avLst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2779" y="2116613"/>
            <a:ext cx="3640575" cy="643450"/>
          </a:xfrm>
          <a:prstGeom prst="roundRect">
            <a:avLst>
              <a:gd name="adj" fmla="val 35000"/>
            </a:avLst>
          </a:prstGeom>
          <a:solidFill>
            <a:srgbClr val="F4BC44"/>
          </a:solidFill>
          <a:ln>
            <a:noFill/>
          </a:ln>
          <a:effectLst>
            <a:outerShdw blurRad="45000" dist="22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779" y="2116613"/>
            <a:ext cx="3640575" cy="6434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081528"/>
                </a:solidFill>
                <a:latin typeface="Lora"/>
              </a:rPr>
              <a:t>Réservez votre appel gratuit ici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4818" y="3230121"/>
            <a:ext cx="163910" cy="312920"/>
          </a:xfrm>
          <a:prstGeom prst="roundRect">
            <a:avLst>
              <a:gd name="adj" fmla="val 35000"/>
            </a:avLst>
          </a:prstGeom>
          <a:noFill/>
          <a:ln w="285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872" y="3483438"/>
            <a:ext cx="29801" cy="29801"/>
          </a:xfrm>
          <a:prstGeom prst="ellipse">
            <a:avLst/>
          </a:prstGeom>
          <a:solidFill>
            <a:srgbClr val="F4B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2779" y="3725240"/>
            <a:ext cx="4741214" cy="1608626"/>
          </a:xfrm>
          <a:prstGeom prst="roundRect">
            <a:avLst>
              <a:gd name="adj" fmla="val 10000"/>
            </a:avLst>
          </a:prstGeom>
          <a:solidFill>
            <a:srgbClr val="142844"/>
          </a:solidFill>
          <a:ln w="15875">
            <a:solidFill>
              <a:srgbClr val="F4BC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3706" y="3945368"/>
            <a:ext cx="4233227" cy="12699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Lora"/>
              </a:rPr>
              <a:t>Une Session </a:t>
            </a:r>
            <a:r>
              <a:rPr sz="2300" b="1" i="0">
                <a:solidFill>
                  <a:srgbClr val="F4BC44"/>
                </a:solidFill>
                <a:latin typeface="Lora"/>
              </a:rPr>
              <a:t>100% OFFERTE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 i="1">
                <a:solidFill>
                  <a:srgbClr val="ECEEF2"/>
                </a:solidFill>
                <a:latin typeface="Lora"/>
              </a:rPr>
              <a:t>pour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Lora"/>
              </a:rPr>
              <a:t>faire le point sur vos finances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779" y="6417572"/>
            <a:ext cx="4233227" cy="2539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4BC44"/>
                </a:solidFill>
                <a:latin typeface="Lora"/>
              </a:rPr>
              <a:t>JLK Solutions Financières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